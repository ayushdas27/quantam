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Wind + Solar generation (GWh)</c:v>
                </c:pt>
              </c:strCache>
            </c:strRef>
          </c:tx>
          <c:spPr>
            <a:solidFill>
              <a:srgbClr val="4FCD89"/>
            </a:solidFill>
            <a:ln>
              <a:solidFill>
                <a:srgbClr val="4FCD89"/>
              </a:solidFill>
            </a:ln>
          </c:spPr>
          <c:cat>
            <c:strRef>
              <c:f>Sheet1!$A$2:$A$6</c:f>
              <c:strCache>
                <c:ptCount val="5"/>
                <c:pt idx="0">
                  <c:v>Rajasthan</c:v>
                </c:pt>
                <c:pt idx="1">
                  <c:v>Gujarat</c:v>
                </c:pt>
                <c:pt idx="2">
                  <c:v>Karnataka</c:v>
                </c:pt>
                <c:pt idx="3">
                  <c:v>Tamil Nadu</c:v>
                </c:pt>
                <c:pt idx="4">
                  <c:v>Andhra Pradesh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40585.84</c:v>
                </c:pt>
                <c:pt idx="1">
                  <c:v>29541.54</c:v>
                </c:pt>
                <c:pt idx="2">
                  <c:v>24121.68</c:v>
                </c:pt>
                <c:pt idx="3">
                  <c:v>26333.239999999998</c:v>
                </c:pt>
                <c:pt idx="4">
                  <c:v>15567.18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(GWh/year)</c:v>
                </c:pt>
              </c:strCache>
            </c:strRef>
          </c:tx>
          <c:spPr>
            <a:solidFill>
              <a:srgbClr val="41D2E6"/>
            </a:solidFill>
            <a:ln>
              <a:solidFill>
                <a:srgbClr val="41D2E6"/>
              </a:solidFill>
            </a:ln>
          </c:spPr>
          <c:cat>
            <c:strRef>
              <c:f>Sheet1!$A$2:$A$3</c:f>
              <c:strCache>
                <c:ptCount val="2"/>
                <c:pt idx="0">
                  <c:v>Classical exact</c:v>
                </c:pt>
                <c:pt idx="1">
                  <c:v>QAOA sample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70127.38</c:v>
                </c:pt>
                <c:pt idx="1">
                  <c:v>70127.38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1D2E6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D2E6"/>
                </a:solidFill>
                <a:latin typeface="Aptos"/>
              </a:rPr>
              <a:t>QUANTUM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5F8FC"/>
                </a:solidFill>
                <a:latin typeface="Aptos"/>
              </a:rPr>
              <a:t>for Renewable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9052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B0BECF"/>
                </a:solidFill>
                <a:latin typeface="Aptos"/>
              </a:rPr>
              <a:t>From real energy data → QUBO → QAOA → an optimized renewable-energy portfolio</a:t>
            </a:r>
          </a:p>
        </p:txBody>
      </p:sp>
      <p:sp>
        <p:nvSpPr>
          <p:cNvPr id="6" name="Oval 5"/>
          <p:cNvSpPr/>
          <p:nvPr/>
        </p:nvSpPr>
        <p:spPr>
          <a:xfrm>
            <a:off x="8823960" y="914400"/>
            <a:ext cx="658368" cy="658368"/>
          </a:xfrm>
          <a:prstGeom prst="ellipse">
            <a:avLst/>
          </a:prstGeom>
          <a:solidFill>
            <a:srgbClr val="182A41"/>
          </a:solidFill>
          <a:ln w="19050"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996696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4C249"/>
                </a:solidFill>
                <a:latin typeface="Aptos"/>
              </a:rPr>
              <a:t>☀</a:t>
            </a:r>
          </a:p>
        </p:txBody>
      </p:sp>
      <p:sp>
        <p:nvSpPr>
          <p:cNvPr id="8" name="Oval 7"/>
          <p:cNvSpPr/>
          <p:nvPr/>
        </p:nvSpPr>
        <p:spPr>
          <a:xfrm>
            <a:off x="9738360" y="914400"/>
            <a:ext cx="658368" cy="658368"/>
          </a:xfrm>
          <a:prstGeom prst="ellipse">
            <a:avLst/>
          </a:prstGeom>
          <a:solidFill>
            <a:srgbClr val="182A41"/>
          </a:solidFill>
          <a:ln w="19050"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996696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1D2E6"/>
                </a:solidFill>
                <a:latin typeface="Aptos"/>
              </a:rPr>
              <a:t>⚡</a:t>
            </a:r>
          </a:p>
        </p:txBody>
      </p:sp>
      <p:sp>
        <p:nvSpPr>
          <p:cNvPr id="10" name="Oval 9"/>
          <p:cNvSpPr/>
          <p:nvPr/>
        </p:nvSpPr>
        <p:spPr>
          <a:xfrm>
            <a:off x="10561320" y="914400"/>
            <a:ext cx="658368" cy="658368"/>
          </a:xfrm>
          <a:prstGeom prst="ellipse">
            <a:avLst/>
          </a:prstGeom>
          <a:solidFill>
            <a:srgbClr val="182A41"/>
          </a:solidFill>
          <a:ln w="19050"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61320" y="996696"/>
            <a:ext cx="6583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FCD89"/>
                </a:solidFill>
                <a:latin typeface="Aptos"/>
              </a:rPr>
              <a:t>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0632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CD89"/>
                </a:solidFill>
                <a:latin typeface="Aptos"/>
              </a:rPr>
              <a:t>Project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56432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5 candidate regions  •  5 qubits  •  QAOA depth p =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72000"/>
            <a:ext cx="10744200" cy="960120"/>
          </a:xfrm>
          <a:prstGeom prst="roundRect">
            <a:avLst/>
          </a:prstGeom>
          <a:solidFill>
            <a:srgbClr val="121F33"/>
          </a:solidFill>
          <a:ln>
            <a:solidFill>
              <a:srgbClr val="18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7731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1D2E6"/>
                </a:solidFill>
                <a:latin typeface="Aptos"/>
              </a:rPr>
              <a:t>CORE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700016"/>
            <a:ext cx="8595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Can quantum optimization help solve difficult renewable-energy planning problems as the system scales?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4476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BECF"/>
                </a:solidFill>
                <a:latin typeface="Aptos"/>
              </a:rPr>
              <a:t>Ayush  •  Quantum optimization for renewable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0BECF"/>
                </a:solidFill>
                <a:latin typeface="Aptos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1. Why renewable energy becomes an optimization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0BECF"/>
                </a:solidFill>
                <a:latin typeface="Aptos"/>
              </a:rPr>
              <a:t>The challenge is not only generating clean energy — it is choosing and coordinating resources efficiently.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4937760" cy="4526280"/>
          </a:xfrm>
          <a:prstGeom prst="roundRect">
            <a:avLst/>
          </a:prstGeom>
          <a:solidFill>
            <a:srgbClr val="121F33"/>
          </a:solidFill>
          <a:ln>
            <a:solidFill>
              <a:srgbClr val="18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Renewable-energy system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057400"/>
            <a:ext cx="530352" cy="530352"/>
          </a:xfrm>
          <a:prstGeom prst="ellipse">
            <a:avLst/>
          </a:prstGeom>
          <a:solidFill>
            <a:srgbClr val="182A41"/>
          </a:solidFill>
          <a:ln w="19050"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C249"/>
                </a:solidFill>
                <a:latin typeface="Aptos"/>
              </a:rPr>
              <a:t>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139696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Solar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313432"/>
            <a:ext cx="1188720" cy="841248"/>
          </a:xfrm>
          <a:prstGeom prst="line">
            <a:avLst/>
          </a:prstGeom>
          <a:ln w="19050">
            <a:solidFill>
              <a:srgbClr val="F4C2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14400" y="2880360"/>
            <a:ext cx="530352" cy="530352"/>
          </a:xfrm>
          <a:prstGeom prst="ellipse">
            <a:avLst/>
          </a:prstGeom>
          <a:solidFill>
            <a:srgbClr val="182A41"/>
          </a:solidFill>
          <a:ln w="19050"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1D2E6"/>
                </a:solidFill>
                <a:latin typeface="Aptos"/>
              </a:rPr>
              <a:t>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962656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Wind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06040" y="3136391"/>
            <a:ext cx="1188720" cy="18289"/>
          </a:xfrm>
          <a:prstGeom prst="line">
            <a:avLst/>
          </a:prstGeom>
          <a:ln w="19050">
            <a:solidFill>
              <a:srgbClr val="41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14400" y="3703320"/>
            <a:ext cx="530352" cy="530352"/>
          </a:xfrm>
          <a:prstGeom prst="ellipse">
            <a:avLst/>
          </a:prstGeom>
          <a:solidFill>
            <a:srgbClr val="182A41"/>
          </a:solidFill>
          <a:ln w="19050"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FCD89"/>
                </a:solidFill>
                <a:latin typeface="Aptos"/>
              </a:rPr>
              <a:t>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785615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Battery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606040" y="3154680"/>
            <a:ext cx="1188720" cy="804672"/>
          </a:xfrm>
          <a:prstGeom prst="line">
            <a:avLst/>
          </a:prstGeom>
          <a:ln w="19050">
            <a:solidFill>
              <a:srgbClr val="4FCD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14400" y="4526280"/>
            <a:ext cx="530352" cy="530352"/>
          </a:xfrm>
          <a:prstGeom prst="ellipse">
            <a:avLst/>
          </a:prstGeom>
          <a:solidFill>
            <a:srgbClr val="182A41"/>
          </a:solidFill>
          <a:ln w="19050">
            <a:solidFill>
              <a:srgbClr val="EF8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9432"/>
            <a:ext cx="530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F8554"/>
                </a:solidFill>
                <a:latin typeface="Aptos"/>
              </a:rPr>
              <a:t>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608576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Demand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606040" y="3154680"/>
            <a:ext cx="1188720" cy="1627632"/>
          </a:xfrm>
          <a:prstGeom prst="line">
            <a:avLst/>
          </a:prstGeom>
          <a:ln w="19050">
            <a:solidFill>
              <a:srgbClr val="EF8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22191" y="2834640"/>
            <a:ext cx="960120" cy="960120"/>
          </a:xfrm>
          <a:prstGeom prst="ellipse">
            <a:avLst/>
          </a:prstGeom>
          <a:solidFill>
            <a:srgbClr val="182A41"/>
          </a:solidFill>
          <a:ln w="19050"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1" y="3127248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1D2E6"/>
                </a:solidFill>
                <a:latin typeface="Aptos"/>
              </a:rPr>
              <a:t>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135331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The grid must decide: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1874519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Which renewable sites should be selected?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How much power should each source provide?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When should storage charge or discharge?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How can demand and transmission constraints be respected?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4160520"/>
            <a:ext cx="5166360" cy="1143000"/>
          </a:xfrm>
          <a:prstGeom prst="roundRect">
            <a:avLst/>
          </a:prstGeom>
          <a:solidFill>
            <a:srgbClr val="182A41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443984"/>
            <a:ext cx="4617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1D2E6"/>
                </a:solidFill>
                <a:latin typeface="Aptos"/>
              </a:rPr>
              <a:t>More sites + more constraints → a much larger combinatorial search 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0BECF"/>
                </a:solidFill>
                <a:latin typeface="Aptos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2. The real-data optimization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0BECF"/>
                </a:solidFill>
                <a:latin typeface="Aptos"/>
              </a:rPr>
              <a:t>CEA 2022–23 wind + solar generation is used as the demonstration dataset.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67208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35240" y="1325880"/>
            <a:ext cx="3977639" cy="4389120"/>
          </a:xfrm>
          <a:prstGeom prst="roundRect">
            <a:avLst/>
          </a:prstGeom>
          <a:solidFill>
            <a:srgbClr val="121F33"/>
          </a:solidFill>
          <a:ln>
            <a:solidFill>
              <a:srgbClr val="18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2763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1D2E6"/>
                </a:solidFill>
                <a:latin typeface="Aptos"/>
              </a:rPr>
              <a:t>DEMONSTRATION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029968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Select exactly 2 regions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14600"/>
            <a:ext cx="3063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0BECF"/>
                </a:solidFill>
                <a:latin typeface="Aptos"/>
              </a:rPr>
              <a:t>to maximize annual wind + solar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3101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FCD89"/>
                </a:solidFill>
                <a:latin typeface="Aptos"/>
              </a:rPr>
              <a:t>Binary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621024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xᵢ ∈ {0,1}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1605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FCD89"/>
                </a:solidFill>
                <a:latin typeface="Aptos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48056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Σ xᵢ =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51023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C249"/>
                </a:solidFill>
                <a:latin typeface="Aptos"/>
              </a:rPr>
              <a:t>Classical optimum: Rajasthan + Gujarat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4681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≈ 70.13 TWh/year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8932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B0BECF"/>
                </a:solidFill>
                <a:latin typeface="Aptos"/>
              </a:rPr>
              <a:t>Source: Central Electricity Authority, General Review 2024, Table 4.7.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0BECF"/>
                </a:solidFill>
                <a:latin typeface="Aptos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3. How the problem becomes a quantum optimization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0BECF"/>
                </a:solidFill>
                <a:latin typeface="Aptos"/>
              </a:rPr>
              <a:t>QUBO converts the selection objective and constraint into a form that QAOA can optimize.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600200" cy="1417320"/>
          </a:xfrm>
          <a:prstGeom prst="roundRect">
            <a:avLst/>
          </a:prstGeom>
          <a:solidFill>
            <a:srgbClr val="121F33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148840"/>
            <a:ext cx="1380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1D2E6"/>
                </a:solidFill>
                <a:latin typeface="Aptos"/>
              </a:rPr>
              <a:t>REAL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578608"/>
            <a:ext cx="13807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Wind + solar
GWh/year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30552" y="2624328"/>
            <a:ext cx="219456" cy="0"/>
          </a:xfrm>
          <a:prstGeom prst="line">
            <a:avLst/>
          </a:prstGeom>
          <a:ln w="19050">
            <a:solidFill>
              <a:srgbClr val="B0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1920240"/>
            <a:ext cx="1600200" cy="1417320"/>
          </a:xfrm>
          <a:prstGeom prst="roundRect">
            <a:avLst/>
          </a:prstGeom>
          <a:solidFill>
            <a:srgbClr val="121F33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8" y="2148840"/>
            <a:ext cx="1380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FCD89"/>
                </a:solidFill>
                <a:latin typeface="Aptos"/>
              </a:rPr>
              <a:t>BINARY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2578608"/>
            <a:ext cx="13807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xᵢ = 0 or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50791" y="2624328"/>
            <a:ext cx="219457" cy="0"/>
          </a:xfrm>
          <a:prstGeom prst="line">
            <a:avLst/>
          </a:prstGeom>
          <a:ln w="19050">
            <a:solidFill>
              <a:srgbClr val="B0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920240"/>
            <a:ext cx="1600200" cy="1417320"/>
          </a:xfrm>
          <a:prstGeom prst="roundRect">
            <a:avLst/>
          </a:prstGeom>
          <a:solidFill>
            <a:srgbClr val="121F33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148840"/>
            <a:ext cx="1380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4C249"/>
                </a:solidFill>
                <a:latin typeface="Aptos"/>
              </a:rPr>
              <a:t>QUBO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578608"/>
            <a:ext cx="13807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Objective +
constraint penalty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2" y="2624328"/>
            <a:ext cx="219456" cy="0"/>
          </a:xfrm>
          <a:prstGeom prst="line">
            <a:avLst/>
          </a:prstGeom>
          <a:ln w="19050">
            <a:solidFill>
              <a:srgbClr val="B0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1920240"/>
            <a:ext cx="1600200" cy="1417320"/>
          </a:xfrm>
          <a:prstGeom prst="roundRect">
            <a:avLst/>
          </a:prstGeom>
          <a:solidFill>
            <a:srgbClr val="121F33"/>
          </a:solidFill>
          <a:ln>
            <a:solidFill>
              <a:srgbClr val="EF8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148840"/>
            <a:ext cx="1380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F8554"/>
                </a:solidFill>
                <a:latin typeface="Aptos"/>
              </a:rPr>
              <a:t>QUBITS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78608"/>
            <a:ext cx="13807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5 choices →
5 qubits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91271" y="2624328"/>
            <a:ext cx="219456" cy="0"/>
          </a:xfrm>
          <a:prstGeom prst="line">
            <a:avLst/>
          </a:prstGeom>
          <a:ln w="19050">
            <a:solidFill>
              <a:srgbClr val="B0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83879" y="1920240"/>
            <a:ext cx="1600200" cy="1417320"/>
          </a:xfrm>
          <a:prstGeom prst="roundRect">
            <a:avLst/>
          </a:prstGeom>
          <a:solidFill>
            <a:srgbClr val="121F33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2148840"/>
            <a:ext cx="1380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1D2E6"/>
                </a:solidFill>
                <a:latin typeface="Aptos"/>
              </a:rPr>
              <a:t>QAOA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2578608"/>
            <a:ext cx="13807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Cost + mixer
layers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11511" y="2624328"/>
            <a:ext cx="219457" cy="0"/>
          </a:xfrm>
          <a:prstGeom prst="line">
            <a:avLst/>
          </a:prstGeom>
          <a:ln w="19050">
            <a:solidFill>
              <a:srgbClr val="B0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04120" y="1920240"/>
            <a:ext cx="1600200" cy="1417320"/>
          </a:xfrm>
          <a:prstGeom prst="roundRect">
            <a:avLst/>
          </a:prstGeom>
          <a:solidFill>
            <a:srgbClr val="121F33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13848" y="2148840"/>
            <a:ext cx="1380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FCD89"/>
                </a:solidFill>
                <a:latin typeface="Aptos"/>
              </a:rPr>
              <a:t>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13848" y="2578608"/>
            <a:ext cx="13807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Probability of
candidate solutions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931920"/>
            <a:ext cx="10789920" cy="1508760"/>
          </a:xfrm>
          <a:prstGeom prst="roundRect">
            <a:avLst/>
          </a:prstGeom>
          <a:solidFill>
            <a:srgbClr val="182A41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605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D2E6"/>
                </a:solidFill>
                <a:latin typeface="Aptos"/>
              </a:rPr>
              <a:t>Conceptual QUBO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087368"/>
            <a:ext cx="8138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5F8FC"/>
                </a:solidFill>
                <a:latin typeface="Aptos"/>
              </a:rPr>
              <a:t>C(x) = −  Σ generationᵢ · xᵢ   +   λ(Σxᵢ − 2)²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36592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0BECF"/>
                </a:solidFill>
                <a:latin typeface="Aptos"/>
              </a:rPr>
              <a:t>First term rewards renewable generation.  Second term penalizes selecting anything other than exactly two regions.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0BECF"/>
                </a:solidFill>
                <a:latin typeface="Aptos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4. QAOA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0BECF"/>
                </a:solidFill>
                <a:latin typeface="Aptos"/>
              </a:rPr>
              <a:t>QAOA is a hybrid quantum-classical algorithm: the circuit is quantum, while a classical optimizer tunes its parameters.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7315200" cy="4526280"/>
          </a:xfrm>
          <a:prstGeom prst="roundRect">
            <a:avLst/>
          </a:prstGeom>
          <a:solidFill>
            <a:srgbClr val="121F33"/>
          </a:solidFill>
          <a:ln>
            <a:solidFill>
              <a:srgbClr val="18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5-qubit QAOA circuit — p =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0BECF"/>
                </a:solidFill>
                <a:latin typeface="Aptos"/>
              </a:rPr>
              <a:t>q1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2240280"/>
            <a:ext cx="5852160" cy="0"/>
          </a:xfrm>
          <a:prstGeom prst="line">
            <a:avLst/>
          </a:prstGeom>
          <a:ln w="19050">
            <a:solidFill>
              <a:srgbClr val="374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91640" y="2039112"/>
            <a:ext cx="384048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12140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1D2E6"/>
                </a:solidFill>
                <a:latin typeface="Aptos"/>
              </a:rPr>
              <a:t>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039112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12140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39112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2140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2039112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12140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039112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2140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60903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0BECF"/>
                </a:solidFill>
                <a:latin typeface="Aptos"/>
              </a:rPr>
              <a:t>q2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2788920"/>
            <a:ext cx="5852160" cy="0"/>
          </a:xfrm>
          <a:prstGeom prst="line">
            <a:avLst/>
          </a:prstGeom>
          <a:ln w="19050">
            <a:solidFill>
              <a:srgbClr val="374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691640" y="2587751"/>
            <a:ext cx="384048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2670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1D2E6"/>
                </a:solidFill>
                <a:latin typeface="Aptos"/>
              </a:rPr>
              <a:t>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2587751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267004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587751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67004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587751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2670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2587751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670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2095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0BECF"/>
                </a:solidFill>
                <a:latin typeface="Aptos"/>
              </a:rPr>
              <a:t>q3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71600" y="3337560"/>
            <a:ext cx="5852160" cy="0"/>
          </a:xfrm>
          <a:prstGeom prst="line">
            <a:avLst/>
          </a:prstGeom>
          <a:ln w="19050">
            <a:solidFill>
              <a:srgbClr val="374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691640" y="3136391"/>
            <a:ext cx="384048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321868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1D2E6"/>
                </a:solidFill>
                <a:latin typeface="Aptos"/>
              </a:rPr>
              <a:t>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3136391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321868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3136391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321868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3136391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321868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3136391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21868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75818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0BECF"/>
                </a:solidFill>
                <a:latin typeface="Aptos"/>
              </a:rPr>
              <a:t>q4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371600" y="3886200"/>
            <a:ext cx="5852160" cy="0"/>
          </a:xfrm>
          <a:prstGeom prst="line">
            <a:avLst/>
          </a:prstGeom>
          <a:ln w="19050">
            <a:solidFill>
              <a:srgbClr val="374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691640" y="3685032"/>
            <a:ext cx="384048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91640" y="376732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1D2E6"/>
                </a:solidFill>
                <a:latin typeface="Aptos"/>
              </a:rPr>
              <a:t>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3685032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0" y="376732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43400" y="3685032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76732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23560" y="3685032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60" y="37673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46520" y="3685032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37673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430682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0BECF"/>
                </a:solidFill>
                <a:latin typeface="Aptos"/>
              </a:rPr>
              <a:t>q5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371600" y="4434840"/>
            <a:ext cx="5852160" cy="0"/>
          </a:xfrm>
          <a:prstGeom prst="line">
            <a:avLst/>
          </a:prstGeom>
          <a:ln w="19050">
            <a:solidFill>
              <a:srgbClr val="374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691640" y="4233672"/>
            <a:ext cx="384048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91640" y="431596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1D2E6"/>
                </a:solidFill>
                <a:latin typeface="Aptos"/>
              </a:rPr>
              <a:t>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0" y="4233672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431596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43400" y="4233672"/>
            <a:ext cx="96012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431596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23560" y="4233672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23560" y="431596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4C249"/>
                </a:solidFill>
                <a:latin typeface="Aptos"/>
              </a:rPr>
              <a:t>C(γ)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46520" y="4233672"/>
            <a:ext cx="640080" cy="384048"/>
          </a:xfrm>
          <a:prstGeom prst="roundRect">
            <a:avLst/>
          </a:prstGeom>
          <a:solidFill>
            <a:srgbClr val="182A41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431596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FCD89"/>
                </a:solidFill>
                <a:latin typeface="Aptos"/>
              </a:rPr>
              <a:t>M(β)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38160" y="1234440"/>
            <a:ext cx="3474720" cy="4526280"/>
          </a:xfrm>
          <a:prstGeom prst="roundRect">
            <a:avLst/>
          </a:prstGeom>
          <a:solidFill>
            <a:srgbClr val="121F33"/>
          </a:solidFill>
          <a:ln>
            <a:solidFill>
              <a:srgbClr val="18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12480" y="15087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What happens?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1993392"/>
            <a:ext cx="2834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Start in a superposition of candidate bit strings.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Cost layer encodes which portfolios are good or bad.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Mixer changes the amplitudes across candidates.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A classical optimizer adjusts γ and β.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Repeat for p = 2 layers in this prototype.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Measure the final state to sample solutions.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12480" y="4983480"/>
            <a:ext cx="2788920" cy="502920"/>
          </a:xfrm>
          <a:prstGeom prst="roundRect">
            <a:avLst/>
          </a:prstGeom>
          <a:solidFill>
            <a:srgbClr val="182A41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58200" y="510235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1D2E6"/>
                </a:solidFill>
                <a:latin typeface="Aptos"/>
              </a:rPr>
              <a:t>Hybrid: quantum circuit + classical optimizer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0BECF"/>
                </a:solidFill>
                <a:latin typeface="Aptos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5. Results: classical optimum vs QAOA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0BECF"/>
                </a:solidFill>
                <a:latin typeface="Aptos"/>
              </a:rPr>
              <a:t>The current experiment is a proof-of-concept; it does not claim quantum advantage on this tiny instance.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657600" cy="4480560"/>
          </a:xfrm>
          <a:prstGeom prst="roundRect">
            <a:avLst/>
          </a:prstGeom>
          <a:solidFill>
            <a:srgbClr val="121F33"/>
          </a:solidFill>
          <a:ln>
            <a:solidFill>
              <a:srgbClr val="18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1D2E6"/>
                </a:solidFill>
                <a:latin typeface="Aptos"/>
              </a:rPr>
              <a:t>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Rajasthan + Gujarat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CD89"/>
                </a:solidFill>
                <a:latin typeface="Aptos"/>
              </a:rPr>
              <a:t>70.13 TWh/year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82112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0BECF"/>
                </a:solidFill>
                <a:latin typeface="Aptos"/>
              </a:rPr>
              <a:t>Most-probable feasible QAOA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1363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C249"/>
                </a:solidFill>
                <a:latin typeface="Aptos"/>
              </a:rPr>
              <a:t>≈ 61.2%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0740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Probability of measuring an optimal portfolio in this simulation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26280" y="1417320"/>
          <a:ext cx="37947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549640" y="1234440"/>
            <a:ext cx="3063240" cy="4480560"/>
          </a:xfrm>
          <a:prstGeom prst="roundRect">
            <a:avLst/>
          </a:prstGeom>
          <a:solidFill>
            <a:srgbClr val="121F33"/>
          </a:solidFill>
          <a:ln>
            <a:solidFill>
              <a:srgbClr val="18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554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How to interpret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011680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QAOA found the same optimum as exact classical search.</a:t>
            </a:r>
          </a:p>
          <a:p>
            <a:pPr>
              <a:spcAft>
                <a:spcPts val="5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61.2% is a measurement probability — not “61.2% accuracy”.</a:t>
            </a:r>
          </a:p>
          <a:p>
            <a:pPr>
              <a:spcAft>
                <a:spcPts val="5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The 5-qubit problem is intentionally small.</a:t>
            </a:r>
          </a:p>
          <a:p>
            <a:pPr>
              <a:spcAft>
                <a:spcPts val="5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The research question is whether the approach remains useful as constraints and decision variables grow.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4800600"/>
            <a:ext cx="2468880" cy="566928"/>
          </a:xfrm>
          <a:prstGeom prst="roundRect">
            <a:avLst/>
          </a:prstGeom>
          <a:solidFill>
            <a:srgbClr val="182A41"/>
          </a:solidFill>
          <a:ln>
            <a:solidFill>
              <a:srgbClr val="F4C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4946904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C249"/>
                </a:solidFill>
                <a:latin typeface="Aptos"/>
              </a:rPr>
              <a:t>No quantum-advantage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0BECF"/>
                </a:solidFill>
                <a:latin typeface="Aptos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6. Benefits, limitations &amp; future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B0BECF"/>
                </a:solidFill>
                <a:latin typeface="Aptos"/>
              </a:rPr>
              <a:t>The small demonstration is a foundation for a much larger renewable-energy optimization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3584448" cy="4343400"/>
          </a:xfrm>
          <a:prstGeom prst="roundRect">
            <a:avLst/>
          </a:prstGeom>
          <a:solidFill>
            <a:srgbClr val="121F33"/>
          </a:solidFill>
          <a:ln>
            <a:solidFill>
              <a:srgbClr val="4FC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D89"/>
                </a:solidFill>
                <a:latin typeface="Aptos"/>
              </a:rPr>
              <a:t>Potential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48840"/>
            <a:ext cx="30632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Handles binary / combinatorial decision models.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Natural mapping from QUBO to quantum Hamiltonians.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Can explore many candidate configurations through amplitudes.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Useful research direction for large planning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98448"/>
            <a:ext cx="3584448" cy="4343400"/>
          </a:xfrm>
          <a:prstGeom prst="roundRect">
            <a:avLst/>
          </a:prstGeom>
          <a:solidFill>
            <a:srgbClr val="121F33"/>
          </a:solidFill>
          <a:ln>
            <a:solidFill>
              <a:srgbClr val="EF8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60020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F8554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148840"/>
            <a:ext cx="30632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Today's quantum hardware is noisy and limited.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This experiment uses classical statevector simulation.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Small instance does not demonstrate speedup.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Real grids need much richer constraints and time-dependent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98448"/>
            <a:ext cx="3584448" cy="4343400"/>
          </a:xfrm>
          <a:prstGeom prst="roundRect">
            <a:avLst/>
          </a:prstGeom>
          <a:solidFill>
            <a:srgbClr val="121F33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60020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1D2E6"/>
                </a:solidFill>
                <a:latin typeface="Aptos"/>
              </a:rPr>
              <a:t>Next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148840"/>
            <a:ext cx="30632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20–100+ renewable sites.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Hourly solar, wind and demand profiles.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Battery + transmission constraints.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Compare QAOA with MILP / classical heuristics.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Benchmark quality, runtime and scalability.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06440"/>
            <a:ext cx="10927080" cy="530352"/>
          </a:xfrm>
          <a:prstGeom prst="roundRect">
            <a:avLst/>
          </a:prstGeom>
          <a:solidFill>
            <a:srgbClr val="182A41"/>
          </a:solidFill>
          <a:ln>
            <a:solidFill>
              <a:srgbClr val="41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925312"/>
            <a:ext cx="10469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F8FC"/>
                </a:solidFill>
                <a:latin typeface="Aptos"/>
              </a:rPr>
              <a:t>REAL DATA  →  QUBO  →  QAOA  →  SIMULATION / HARDWARE  →  GRID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0BECF"/>
                </a:solidFill>
                <a:latin typeface="Aptos"/>
              </a:rPr>
              <a:t>Sources: CEA General Review 2024, Table 4.7; IBM/Qiskit Optimization documentation on QUBO and QAOA.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B0BECF"/>
                </a:solidFill>
                <a:latin typeface="Aptos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